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4"/>
          </a:solidFill>
          <a:ln w="12700">
            <a:solidFill>
              <a:srgbClr val="0A0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0116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Creditax.ai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2E8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Nigerian tax compliance, made creditworthy.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37490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canvas for tax answers grounded in NTA / NTAA / FIRS  ·  credit health score  ·  verified pro marketplace  ·  partner APIs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5943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deck  ·  September 2026  ·  Track A demo build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Creditax.ai</a:t>
            </a:r>
            <a:pPr indent="0" marL="0">
              <a:buNone/>
            </a:pPr>
            <a:r>
              <a:rPr lang="en-US" sz="900" dirty="0">
                <a:solidFill>
                  <a:srgbClr val="8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demo_seed UI until live cutover  ·  1/12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1280160" cy="54864"/>
          </a:xfrm>
          <a:prstGeom prst="rect">
            <a:avLst/>
          </a:prstGeom>
          <a:solidFill>
            <a:srgbClr val="32E875"/>
          </a:solidFill>
          <a:ln w="12700">
            <a:solidFill>
              <a:srgbClr val="32E8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25880"/>
            <a:ext cx="10881360" cy="47548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8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Nigeria’s 2024 tax reforms (NTA, NTAA, Capital Gains) left millions of workers, freelancers and SMEs unsure what they owe.</a:t>
            </a:r>
            <a:endParaRPr lang="en-US" sz="16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8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AI tools hallucinate jurisdiction-specific law — no citations, no audit trail, no trust for filing or lending.</a:t>
            </a:r>
            <a:endParaRPr lang="en-US" sz="16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8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underwriting ignores tax compliance data, while lenders still demand BVN/TIN proof without a clean UX.</a:t>
            </a:r>
            <a:endParaRPr lang="en-US" sz="16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8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 pros still acquire clients via word-of-mouth; consumers cannot verify who is real.</a:t>
            </a:r>
            <a:endParaRPr lang="en-US" sz="16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8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Developers who need PAYE/VAT/WHT primitives hand-code rules and re-learn them every reform cycle.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Creditax.ai</a:t>
            </a:r>
            <a:pPr indent="0" marL="0">
              <a:buNone/>
            </a:pPr>
            <a:r>
              <a:rPr lang="en-US" sz="900" dirty="0">
                <a:solidFill>
                  <a:srgbClr val="8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demo_seed UI until live cutover  ·  2/12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— one platform, four outcomes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1280160" cy="54864"/>
          </a:xfrm>
          <a:prstGeom prst="rect">
            <a:avLst/>
          </a:prstGeom>
          <a:solidFill>
            <a:srgbClr val="32E875"/>
          </a:solidFill>
          <a:ln w="12700">
            <a:solidFill>
              <a:srgbClr val="32E8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25880"/>
            <a:ext cx="10881360" cy="47548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8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Canvas AI agent answers tax questions with citations to published Nigerian law (NTA / NTAA / FIRS guides).</a:t>
            </a:r>
            <a:endParaRPr lang="en-US" sz="16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8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Sidebar document uploads turn receipts, invoices and payslips into structured filing inputs.</a:t>
            </a:r>
            <a:endParaRPr lang="en-US" sz="16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8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health score links compliance + financial signals — the differentiator no tax app owns.</a:t>
            </a:r>
            <a:endParaRPr lang="en-US" sz="16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8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tax professional marketplace: when stakes are high, the agent refers real humans nearby.</a:t>
            </a:r>
            <a:endParaRPr lang="en-US" sz="16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8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engines exposed as versioned APIs for fintechs, payroll and ERP partners (B2B2C wedge).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Creditax.ai</a:t>
            </a:r>
            <a:pPr indent="0" marL="0">
              <a:buNone/>
            </a:pPr>
            <a:r>
              <a:rPr lang="en-US" sz="900" dirty="0">
                <a:solidFill>
                  <a:srgbClr val="8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demo_seed UI until live cutover  ·  3/12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— grounded answer + document pipeline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1280160" cy="54864"/>
          </a:xfrm>
          <a:prstGeom prst="rect">
            <a:avLst/>
          </a:prstGeom>
          <a:solidFill>
            <a:srgbClr val="32E875"/>
          </a:solidFill>
          <a:ln w="12700">
            <a:solidFill>
              <a:srgbClr val="32E875"/>
            </a:solidFill>
            <a:prstDash val="solid"/>
          </a:ln>
        </p:spPr>
      </p:sp>
      <p:pic>
        <p:nvPicPr>
          <p:cNvPr id="4" name="Image 0" descr="/Users/oyinkansolaarchibong/Desktop/creditax-ai/assets/demo-screenshots/_deck-crops/answ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280160"/>
            <a:ext cx="5486400" cy="4846320"/>
          </a:xfrm>
          <a:prstGeom prst="rect">
            <a:avLst/>
          </a:prstGeom>
        </p:spPr>
      </p:pic>
      <p:pic>
        <p:nvPicPr>
          <p:cNvPr id="5" name="Image 1" descr="/Users/oyinkansolaarchibong/Desktop/creditax-ai/assets/demo-screenshots/_deck-crops/uploa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1280160"/>
            <a:ext cx="5486400" cy="4846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64922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Creditax.ai</a:t>
            </a:r>
            <a:pPr indent="0" marL="0">
              <a:buNone/>
            </a:pPr>
            <a:r>
              <a:rPr lang="en-US" sz="900" dirty="0">
                <a:solidFill>
                  <a:srgbClr val="8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demo_seed UI until live cutover  ·  4/12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502920" y="6217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captures (fa-5). Simulated data is labelled demo_seed until production cutover.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Moat — RAG + compliance–credit flywheel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1280160" cy="54864"/>
          </a:xfrm>
          <a:prstGeom prst="rect">
            <a:avLst/>
          </a:prstGeom>
          <a:solidFill>
            <a:srgbClr val="32E875"/>
          </a:solidFill>
          <a:ln w="12700">
            <a:solidFill>
              <a:srgbClr val="32E8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25880"/>
            <a:ext cx="10881360" cy="47548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8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vector indexes: tax_document_chunks (law Q&amp;A) + tax_professionals_embeddings (marketplace matching).</a:t>
            </a:r>
            <a:endParaRPr lang="en-US" sz="16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8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tax calculators (PAYE / VAT / WHT / CIT) sit beside generative answers — figures you can defend.</a:t>
            </a:r>
            <a:endParaRPr lang="en-US" sz="16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8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activity feeds credit score factors; score visibility drives filing behaviour → more signal.</a:t>
            </a:r>
            <a:endParaRPr lang="en-US" sz="16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8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posture: published law only — no unofficial government-system access; citations on every answer.</a:t>
            </a:r>
            <a:endParaRPr lang="en-US" sz="16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8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4-language product (EN / YO / HA / IG) including agent prompting — distribution moat in Nigeria.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Creditax.ai</a:t>
            </a:r>
            <a:pPr indent="0" marL="0">
              <a:buNone/>
            </a:pPr>
            <a:r>
              <a:rPr lang="en-US" sz="900" dirty="0">
                <a:solidFill>
                  <a:srgbClr val="8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demo_seed UI until live cutover  ·  5/12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surfaces — consumer, pro, admin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1280160" cy="54864"/>
          </a:xfrm>
          <a:prstGeom prst="rect">
            <a:avLst/>
          </a:prstGeom>
          <a:solidFill>
            <a:srgbClr val="32E875"/>
          </a:solidFill>
          <a:ln w="12700">
            <a:solidFill>
              <a:srgbClr val="32E875"/>
            </a:solidFill>
            <a:prstDash val="solid"/>
          </a:ln>
        </p:spPr>
      </p:sp>
      <p:pic>
        <p:nvPicPr>
          <p:cNvPr id="4" name="Image 0" descr="/Users/oyinkansolaarchibong/Desktop/creditax-ai/assets/demo-screenshots/_deck-crops/credi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234440"/>
            <a:ext cx="3749040" cy="2240280"/>
          </a:xfrm>
          <a:prstGeom prst="rect">
            <a:avLst/>
          </a:prstGeom>
        </p:spPr>
      </p:pic>
      <p:pic>
        <p:nvPicPr>
          <p:cNvPr id="5" name="Image 1" descr="/Users/oyinkansolaarchibong/Desktop/creditax-ai/assets/demo-screenshots/_deck-crops/marketplac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06240" y="1234440"/>
            <a:ext cx="3749040" cy="2240280"/>
          </a:xfrm>
          <a:prstGeom prst="rect">
            <a:avLst/>
          </a:prstGeom>
        </p:spPr>
      </p:pic>
      <p:pic>
        <p:nvPicPr>
          <p:cNvPr id="6" name="Image 2" descr="/Users/oyinkansolaarchibong/Desktop/creditax-ai/assets/demo-screenshots/_deck-crops/pro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46720" y="1234440"/>
            <a:ext cx="3749040" cy="2240280"/>
          </a:xfrm>
          <a:prstGeom prst="rect">
            <a:avLst/>
          </a:prstGeom>
        </p:spPr>
      </p:pic>
      <p:pic>
        <p:nvPicPr>
          <p:cNvPr id="7" name="Image 3" descr="/Users/oyinkansolaarchibong/Desktop/creditax-ai/assets/demo-screenshots/_deck-crops/admin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65760" y="3657600"/>
            <a:ext cx="3749040" cy="2240280"/>
          </a:xfrm>
          <a:prstGeom prst="rect">
            <a:avLst/>
          </a:prstGeom>
        </p:spPr>
      </p:pic>
      <p:pic>
        <p:nvPicPr>
          <p:cNvPr id="8" name="Image 4" descr="/Users/oyinkansolaarchibong/Desktop/creditax-ai/assets/demo-screenshots/_deck-crops/pricing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206240" y="3657600"/>
            <a:ext cx="3749040" cy="2240280"/>
          </a:xfrm>
          <a:prstGeom prst="rect">
            <a:avLst/>
          </a:prstGeom>
        </p:spPr>
      </p:pic>
      <p:pic>
        <p:nvPicPr>
          <p:cNvPr id="9" name="Image 5" descr="/Users/oyinkansolaarchibong/Desktop/creditax-ai/assets/demo-screenshots/_deck-crops/status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046720" y="3657600"/>
            <a:ext cx="3749040" cy="2240280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365760" y="5943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snapshot</a:t>
            </a:r>
            <a:endParaRPr lang="en-US" sz="1100" dirty="0"/>
          </a:p>
        </p:txBody>
      </p:sp>
      <p:sp>
        <p:nvSpPr>
          <p:cNvPr id="11" name="Text 3"/>
          <p:cNvSpPr/>
          <p:nvPr/>
        </p:nvSpPr>
        <p:spPr>
          <a:xfrm>
            <a:off x="4206240" y="5943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 search</a:t>
            </a:r>
            <a:endParaRPr lang="en-US" sz="1100" dirty="0"/>
          </a:p>
        </p:txBody>
      </p:sp>
      <p:sp>
        <p:nvSpPr>
          <p:cNvPr id="12" name="Text 4"/>
          <p:cNvSpPr/>
          <p:nvPr/>
        </p:nvSpPr>
        <p:spPr>
          <a:xfrm>
            <a:off x="8046720" y="5943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portal</a:t>
            </a:r>
            <a:endParaRPr lang="en-US" sz="1100" dirty="0"/>
          </a:p>
        </p:txBody>
      </p:sp>
      <p:sp>
        <p:nvSpPr>
          <p:cNvPr id="13" name="Text 5"/>
          <p:cNvSpPr/>
          <p:nvPr/>
        </p:nvSpPr>
        <p:spPr>
          <a:xfrm>
            <a:off x="365760" y="5943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board</a:t>
            </a:r>
            <a:endParaRPr lang="en-US" sz="1100" dirty="0"/>
          </a:p>
        </p:txBody>
      </p:sp>
      <p:sp>
        <p:nvSpPr>
          <p:cNvPr id="14" name="Text 6"/>
          <p:cNvSpPr/>
          <p:nvPr/>
        </p:nvSpPr>
        <p:spPr>
          <a:xfrm>
            <a:off x="4206240" y="5943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₦ pricing tiers</a:t>
            </a:r>
            <a:endParaRPr lang="en-US" sz="1100" dirty="0"/>
          </a:p>
        </p:txBody>
      </p:sp>
      <p:sp>
        <p:nvSpPr>
          <p:cNvPr id="15" name="Text 7"/>
          <p:cNvSpPr/>
          <p:nvPr/>
        </p:nvSpPr>
        <p:spPr>
          <a:xfrm>
            <a:off x="8046720" y="5943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— all green</a:t>
            </a:r>
            <a:endParaRPr lang="en-US" sz="1100" dirty="0"/>
          </a:p>
        </p:txBody>
      </p:sp>
      <p:sp>
        <p:nvSpPr>
          <p:cNvPr id="16" name="Text 8"/>
          <p:cNvSpPr/>
          <p:nvPr/>
        </p:nvSpPr>
        <p:spPr>
          <a:xfrm>
            <a:off x="457200" y="64922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Creditax.ai</a:t>
            </a:r>
            <a:pPr indent="0" marL="0">
              <a:buNone/>
            </a:pPr>
            <a:r>
              <a:rPr lang="en-US" sz="900" dirty="0">
                <a:solidFill>
                  <a:srgbClr val="8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demo_seed UI until live cutover  ·  6/12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— Nigeria first, depth over breadth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1280160" cy="54864"/>
          </a:xfrm>
          <a:prstGeom prst="rect">
            <a:avLst/>
          </a:prstGeom>
          <a:solidFill>
            <a:srgbClr val="32E875"/>
          </a:solidFill>
          <a:ln w="12700">
            <a:solidFill>
              <a:srgbClr val="32E8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25880"/>
            <a:ext cx="10881360" cy="47548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8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 consumers &amp; micro/SMEs: “tell me what I owe, help me file, make lenders trust me.”</a:t>
            </a:r>
            <a:endParaRPr lang="en-US" sz="16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8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tax professionals: verified client flow + bulk calc / verification / reports tools.</a:t>
            </a:r>
            <a:endParaRPr lang="en-US" sz="16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8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fintechs, payroll, ERP: maintained Nigerian tax primitives without hand-coded reform debt.</a:t>
            </a:r>
            <a:endParaRPr lang="en-US" sz="16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8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banks &amp; institutions: compliance signals and white-label rails (Enterprise).</a:t>
            </a:r>
            <a:endParaRPr lang="en-US" sz="16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8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competitor combines tax-compliance AI with credit scoring on published Nigerian law.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Creditax.ai</a:t>
            </a:r>
            <a:pPr indent="0" marL="0">
              <a:buNone/>
            </a:pPr>
            <a:r>
              <a:rPr lang="en-US" sz="900" dirty="0">
                <a:solidFill>
                  <a:srgbClr val="8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demo_seed UI until live cutover  ·  7/12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 — Naira-only, quota-enforced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1280160" cy="54864"/>
          </a:xfrm>
          <a:prstGeom prst="rect">
            <a:avLst/>
          </a:prstGeom>
          <a:solidFill>
            <a:srgbClr val="32E875"/>
          </a:solidFill>
          <a:ln w="12700">
            <a:solidFill>
              <a:srgbClr val="32E8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371600"/>
            <a:ext cx="2743200" cy="3291840"/>
          </a:xfrm>
          <a:prstGeom prst="roundRect">
            <a:avLst>
              <a:gd name="adj" fmla="val 2667"/>
            </a:avLst>
          </a:prstGeom>
          <a:solidFill>
            <a:srgbClr val="121A22"/>
          </a:solidFill>
          <a:ln w="19050">
            <a:solidFill>
              <a:srgbClr val="1E2A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₦0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8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chats/day · 60 lifetime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 score · 2 BVN teaser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sandbox API calls/mo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29000" y="1371600"/>
            <a:ext cx="2743200" cy="3291840"/>
          </a:xfrm>
          <a:prstGeom prst="roundRect">
            <a:avLst>
              <a:gd name="adj" fmla="val 2667"/>
            </a:avLst>
          </a:prstGeom>
          <a:solidFill>
            <a:srgbClr val="0D7377"/>
          </a:solidFill>
          <a:ln w="19050">
            <a:solidFill>
              <a:srgbClr val="32E8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554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₦5,000/mo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566160" y="214884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8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chats/day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score + simulator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BVN · 5k API calls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1371600"/>
            <a:ext cx="2743200" cy="3291840"/>
          </a:xfrm>
          <a:prstGeom prst="roundRect">
            <a:avLst>
              <a:gd name="adj" fmla="val 2667"/>
            </a:avLst>
          </a:prstGeom>
          <a:solidFill>
            <a:srgbClr val="121A22"/>
          </a:solidFill>
          <a:ln w="19050">
            <a:solidFill>
              <a:srgbClr val="1E2A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554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₦25,000/mo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214884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8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fair-use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tools · 3 seats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50k API · 20 BVN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281160" y="1371600"/>
            <a:ext cx="2743200" cy="3291840"/>
          </a:xfrm>
          <a:prstGeom prst="roundRect">
            <a:avLst>
              <a:gd name="adj" fmla="val 2667"/>
            </a:avLst>
          </a:prstGeom>
          <a:solidFill>
            <a:srgbClr val="121A22"/>
          </a:solidFill>
          <a:ln w="19050">
            <a:solidFill>
              <a:srgbClr val="1E2A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0" y="1554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418320" y="214884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8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Contracted volume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SSO + SLA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scoring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493776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2E8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streams: subscriptions · BVN pay-per-use (₦350) · marketplace take-rate · partner API calls · Enterprise white-label.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55778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 (locked method): free CAC envelope ₦2,000 · grounded chat ≈ ₦5 · BVN ≈ ₦90 cost vs ₦350 price · Plus conversion target ≥1 per 10 active free in 90 days.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Creditax.ai</a:t>
            </a:r>
            <a:pPr indent="0" marL="0">
              <a:buNone/>
            </a:pPr>
            <a:r>
              <a:rPr lang="en-US" sz="900" dirty="0">
                <a:solidFill>
                  <a:srgbClr val="8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demo_seed UI until live cutover  ·  8/12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 — full-access build green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1280160" cy="54864"/>
          </a:xfrm>
          <a:prstGeom prst="rect">
            <a:avLst/>
          </a:prstGeom>
          <a:solidFill>
            <a:srgbClr val="32E875"/>
          </a:solidFill>
          <a:ln w="12700">
            <a:solidFill>
              <a:srgbClr val="32E875"/>
            </a:solidFill>
            <a:prstDash val="solid"/>
          </a:ln>
        </p:spPr>
      </p:sp>
      <p:pic>
        <p:nvPicPr>
          <p:cNvPr id="4" name="Image 0" descr="/Users/oyinkansolaarchibong/Desktop/creditax-ai/assets/demo-screenshots/_deck-crops/statu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280160"/>
            <a:ext cx="5669280" cy="3291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371600"/>
            <a:ext cx="5303520" cy="4114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8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20-phase product chain complete; full-access next build exit 0.</a:t>
            </a:r>
            <a:endParaRPr lang="en-US" sz="14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8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Mapbox: reverse + search return geo_source=mapbox; raster overlay on marketplace.</a:t>
            </a:r>
            <a:endParaRPr lang="en-US" sz="14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8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 host fixed to api.withmono.com (mono-sec-key); demo path fail-closed with mono.attempted.</a:t>
            </a:r>
            <a:endParaRPr lang="en-US" sz="14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8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demo screenshots A–G captured (desktop + mobile) for client pitches.</a:t>
            </a:r>
            <a:endParaRPr lang="en-US" sz="14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8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charged:false invariant holds with empty PSP keys (honest not-configured).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02920" y="56692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C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 honestly: Mono live data_source=mono-sandbox needs test_sk_* + sandbox kv/kvn (never committed).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Creditax.ai</a:t>
            </a:r>
            <a:pPr indent="0" marL="0">
              <a:buNone/>
            </a:pPr>
            <a:r>
              <a:rPr lang="en-US" sz="900" dirty="0">
                <a:solidFill>
                  <a:srgbClr val="8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demo_seed UI until live cutover  ·  9/12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 — Twitter-first + marketplace supply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1280160" cy="54864"/>
          </a:xfrm>
          <a:prstGeom prst="rect">
            <a:avLst/>
          </a:prstGeom>
          <a:solidFill>
            <a:srgbClr val="32E875"/>
          </a:solidFill>
          <a:ln w="12700">
            <a:solidFill>
              <a:srgbClr val="32E8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25880"/>
            <a:ext cx="10881360" cy="47548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8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plan: SuperScale content (explainer, mock-ups, threads) → public launch → marketplace RAG live.</a:t>
            </a:r>
            <a:endParaRPr lang="en-US" sz="16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8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first: onboard verified tax pros (CAC + Mono Lookup + certificate review) before demand spikes.</a:t>
            </a:r>
            <a:endParaRPr lang="en-US" sz="16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8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distribution: sandbox keys, quickstart, status page — partners ship PAYE/VAT without re-implementation.</a:t>
            </a:r>
            <a:endParaRPr lang="en-US" sz="16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8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6-month success metrics: 100 API signups · 25 active API users · first revenue · NPS &gt; 40.</a:t>
            </a:r>
            <a:endParaRPr lang="en-US" sz="16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8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gate: NDPA/DPIA complete before production real-data launch (legal-compliance.md).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Creditax.ai</a:t>
            </a:r>
            <a:pPr indent="0" marL="0">
              <a:buNone/>
            </a:pPr>
            <a:r>
              <a:rPr lang="en-US" sz="900" dirty="0">
                <a:solidFill>
                  <a:srgbClr val="8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demo_seed UI until live cutover  ·  10/12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&amp; 3-year outlook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1280160" cy="54864"/>
          </a:xfrm>
          <a:prstGeom prst="rect">
            <a:avLst/>
          </a:prstGeom>
          <a:solidFill>
            <a:srgbClr val="32E875"/>
          </a:solidFill>
          <a:ln w="12700">
            <a:solidFill>
              <a:srgbClr val="32E8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25880"/>
            <a:ext cx="10881360" cy="47548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8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Founder-led (solo Phase 0–Track A): full-stack + RAG + payments; hiring plan post-seed (marketplace ops, compliance, AE).</a:t>
            </a:r>
            <a:endParaRPr lang="en-US" sz="16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8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1: Nigeria consumer + pro launch; partner API pilots; NDPA production cutover.</a:t>
            </a:r>
            <a:endParaRPr lang="en-US" sz="16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8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2: portfolio scoring for lenders; Enterprise white-label; expand verification beyond BVN/TIN.</a:t>
            </a:r>
            <a:endParaRPr lang="en-US" sz="16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8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3: regional fintech rails / BaaS add-on (priced only after scoped — pricing-and-access.md open item).</a:t>
            </a:r>
            <a:endParaRPr lang="en-US" sz="16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C8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posture: versioned law content, no unofficial FIRS hooks, fail-closed identity, quota abuse controls.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Creditax.ai</a:t>
            </a:r>
            <a:pPr indent="0" marL="0">
              <a:buNone/>
            </a:pPr>
            <a:r>
              <a:rPr lang="en-US" sz="900" dirty="0">
                <a:solidFill>
                  <a:srgbClr val="8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demo_seed UI until live cutover  ·  11/12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4"/>
          </a:solidFill>
          <a:ln w="12700">
            <a:solidFill>
              <a:srgbClr val="0A0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2E875"/>
          </a:solidFill>
          <a:ln w="12700">
            <a:solidFill>
              <a:srgbClr val="32E8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10515600" cy="32004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C8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to move Track A demo → Track B production (Supabase + NDPA DPIA + Mono live + PSP test→live).</a:t>
            </a:r>
            <a:endParaRPr lang="en-US" sz="17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C8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Runway for marketplace supply (tax pro onboarding) + first partner API deals.</a:t>
            </a:r>
            <a:endParaRPr lang="en-US" sz="17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C8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funds: infra &amp; compliance, BD (lenders/payroll), content/GTM, 2–3 hires.</a:t>
            </a:r>
            <a:endParaRPr lang="en-US" sz="1700" dirty="0"/>
          </a:p>
          <a:p>
            <a:pPr marL="177800" indent="-1778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C8D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will show next: mono-sandbox data_source flip, PSP test charge path (charged stays false until live), case studies from 4–5 warm leads.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5760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2E8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creditax.ai  ·  hello@creditax.ai  ·  investors@creditax.ai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Creditax.ai</a:t>
            </a:r>
            <a:pPr indent="0" marL="0">
              <a:buNone/>
            </a:pPr>
            <a:r>
              <a:rPr lang="en-US" sz="900" dirty="0">
                <a:solidFill>
                  <a:srgbClr val="8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demo_seed UI until live cutover  ·  12/12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Creditax.ai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Creditax.ai — Investor Deck</dc:title>
  <dc:subject>Investor pitch deck</dc:subject>
  <dc:creator>Creditax.ai</dc:creator>
  <cp:lastModifiedBy>Creditax.ai</cp:lastModifiedBy>
  <cp:revision>1</cp:revision>
  <dcterms:created xsi:type="dcterms:W3CDTF">2026-09-24T07:42:18Z</dcterms:created>
  <dcterms:modified xsi:type="dcterms:W3CDTF">2026-09-24T07:42:18Z</dcterms:modified>
</cp:coreProperties>
</file>